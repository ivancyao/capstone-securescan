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Inicio</c:v>
                </c:pt>
              </c:strCache>
            </c:strRef>
          </c:tx>
          <c:spPr>
            <a:solidFill>
              <a:srgbClr val="F4F8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10. Despliegue final</c:v>
                  </c:pt>
                  <c:pt idx="1">
                    <c:v>9. Pruebas (func./seg./rend.)</c:v>
                  </c:pt>
                  <c:pt idx="2">
                    <c:v>8. Reportes y dashboard</c:v>
                  </c:pt>
                  <c:pt idx="3">
                    <c:v>7. Motor de escaneo</c:v>
                  </c:pt>
                  <c:pt idx="4">
                    <c:v>6. Consultas de BD</c:v>
                  </c:pt>
                  <c:pt idx="5">
                    <c:v>5. Frontend / Dashboard</c:v>
                  </c:pt>
                  <c:pt idx="6">
                    <c:v>4. Backend / API</c:v>
                  </c:pt>
                  <c:pt idx="7">
                    <c:v>3. Docker y repositorio</c:v>
                  </c:pt>
                  <c:pt idx="8">
                    <c:v>2. Arquitectura y modelo de datos</c:v>
                  </c:pt>
                  <c:pt idx="9">
                    <c:v>1. Requerimientos y alcance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</c:v>
                </c:pt>
                <c:pt idx="1">
                  <c:v>12</c:v>
                </c:pt>
                <c:pt idx="2">
                  <c:v>11</c:v>
                </c:pt>
                <c:pt idx="3">
                  <c:v>8</c:v>
                </c:pt>
                <c:pt idx="4">
                  <c:v>6</c:v>
                </c:pt>
                <c:pt idx="5">
                  <c:v>5</c:v>
                </c:pt>
                <c:pt idx="6">
                  <c:v>5</c:v>
                </c:pt>
                <c:pt idx="7">
                  <c:v>4</c:v>
                </c:pt>
                <c:pt idx="8">
                  <c:v>4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Duración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10. Despliegue final</c:v>
                  </c:pt>
                  <c:pt idx="1">
                    <c:v>9. Pruebas (func./seg./rend.)</c:v>
                  </c:pt>
                  <c:pt idx="2">
                    <c:v>8. Reportes y dashboard</c:v>
                  </c:pt>
                  <c:pt idx="3">
                    <c:v>7. Motor de escaneo</c:v>
                  </c:pt>
                  <c:pt idx="4">
                    <c:v>6. Consultas de BD</c:v>
                  </c:pt>
                  <c:pt idx="5">
                    <c:v>5. Frontend / Dashboard</c:v>
                  </c:pt>
                  <c:pt idx="6">
                    <c:v>4. Backend / API</c:v>
                  </c:pt>
                  <c:pt idx="7">
                    <c:v>3. Docker y repositorio</c:v>
                  </c:pt>
                  <c:pt idx="8">
                    <c:v>2. Arquitectura y modelo de datos</c:v>
                  </c:pt>
                  <c:pt idx="9">
                    <c:v>1. Requerimientos y alcance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4</c:v>
                </c:pt>
                <c:pt idx="1">
                  <c:v>2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2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331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b"/>
        <c:majorGridlines>
          <c:spPr>
            <a:ln w="12700" cap="flat">
              <a:solidFill>
                <a:srgbClr val="D8E3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Semana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331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Preséntate: nombre, carrera y el nombre del proyecto. Da el tono ejecutivo desde el inicio, como si presentaras a una gerencia.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problema real: pymes sin presupuesto para herramientas de seguridad comerciales, y las fallas más comunes según OWASP Top 10. Conecta con la relevancia para el campo laboral de tu carrera.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brevemente cómo funciona SecureScan siguiendo el diagrama: el usuario interactúa con el dashboard, la API coordina el motor de escaneo, y los resultados se guardan y priorizan en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 3-4 competencias clave y cómo el proyecto las demuestra concretamente (no leas la lista completa, elige las más fuertes).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Cuenta brevemente por qué te interesa la ciberseguridad y qué certificaciones has completado. Esto responde directamente al indicador de intereses profesionales (10%).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el objetivo general una vez, luego menciona 2-3 objetivos específicos como ejemplo (no los 6 en detalle, se ven en la diapositiva).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que el proyecto es factible en el semestre y que ya tienes autorización para hacerlo individual. Menciona el riesgo principal y cómo lo vas a mitigar con un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 el ciclo de trabajo Kanban y que, al ser individual, tú asumes todos los roles técnicos. Menciona las herramientas: GitHub, tablero Kanban,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 el gráfico de izquierda a derecha explicando que cada barra representa cuántas semanas dura cada actividad, alineadas a las 3 fases de la asignatura.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Cierra mostrando que el repositorio está público y actualizado, menciona las evidencias de avance y final, y agradece dando paso 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Ivancyao/Capstone-SecureSca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822960"/>
            <a:ext cx="914400" cy="54864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692640" y="1371600"/>
            <a:ext cx="1188720" cy="36576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371600"/>
            <a:ext cx="365760" cy="82296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0241280" y="2194560"/>
            <a:ext cx="1005840" cy="36576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1737360"/>
            <a:ext cx="548640" cy="822960"/>
          </a:xfrm>
          <a:prstGeom prst="line">
            <a:avLst/>
          </a:prstGeom>
          <a:noFill/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02952" y="758952"/>
            <a:ext cx="128016" cy="128016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780776" y="12710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Shape 7"/>
          <p:cNvSpPr/>
          <p:nvPr/>
        </p:nvSpPr>
        <p:spPr>
          <a:xfrm>
            <a:off x="9628632" y="1673352"/>
            <a:ext cx="128016" cy="128016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183112" y="2130552"/>
            <a:ext cx="128016" cy="128016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177272" y="2496312"/>
            <a:ext cx="128016" cy="128016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3317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SECURESCAN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32004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Evaluación y Gestión de Vulnerabilidades Web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248" y="3794760"/>
            <a:ext cx="20116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Proyecto APT  |  Asignatura Capstone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Ivan Alejandro Escobar Gatica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61081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Informática  ·  Sede San Joaquín  ·  Duoc UC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y su relevancia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4297680"/>
          </a:xfrm>
          <a:prstGeom prst="roundRect">
            <a:avLst>
              <a:gd name="adj" fmla="val 2791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3520440"/>
            <a:ext cx="1280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7033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de vulnerabilidades web más comunes y explotadas a nivel mundial — la base de clasificación que usa SecureScan.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371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 en pymes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532120" y="167335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organizaciones no cuentan con presupuesto para herramientas comerciales como Nessus o Burp Suite Enterprise.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892040" y="283464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532120" y="27889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Fallas recurrentes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09067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Configuraciones inseguras, inyección SQL y control de acceso deficiente siguen siendo las causas más comunes de incidentes.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425196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9204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4206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priorización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532120" y="45079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equipos de TI reciben datos técnicos crudos, sin una clasificación clara de qué corregir primero.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solución: SecureScan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centraliza el registro de aplicaciones, ejecuta evaluaciones de seguridad automatizadas y entrega reportes priorizados por riesgo.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2FA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633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(React)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108960" y="3200400"/>
            <a:ext cx="3200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29000" y="24688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2FA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633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JWT/RBAC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97880" y="3200400"/>
            <a:ext cx="3200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24688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0B2545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2633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Escaneo,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y Reportes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OWASP ZAP · CVSS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0" y="3200400"/>
            <a:ext cx="320040" cy="0"/>
          </a:xfrm>
          <a:prstGeom prst="line">
            <a:avLst/>
          </a:prstGeom>
          <a:noFill/>
          <a:ln w="254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06840" y="246888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EAF2FA"/>
          </a:solidFill>
          <a:ln w="15875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0" y="2633472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434840"/>
            <a:ext cx="1088136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617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agregado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se detectan vulnerabilidades: el sistema las clasifica con CVSS y OWASP Top 10, calcula prioridad de corrección y genera un reporte PDF listo para entregar al cliente, transformando datos técnicos en información accionable para la organización.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Alineación con el Perfil de Egreso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integra prácticamente todas las competencias de especialidad de Ingeniería en Informática.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85623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20116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Administrar ambientes y BD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Linux, PostgreSQL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19272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3864" y="185623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83864" y="20116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software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483864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+ Frontend React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9904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54496" y="185623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54496" y="20116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ER escalable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60536" y="169164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25128" y="185623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25128" y="201168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arquitectónico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9025128" y="274320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por capas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382219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3232" y="39776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calidad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70916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Funcionales, seguridad, rendimiento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19272" y="36576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3864" y="382219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83864" y="39776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vulnerabilidades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483864" y="470916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central del proyecto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9904" y="36576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54496" y="382219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54496" y="39776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solución integral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254496" y="470916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componentes conectados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860536" y="36576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25128" y="3822192"/>
            <a:ext cx="320040" cy="54864"/>
          </a:xfrm>
          <a:prstGeom prst="round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025128" y="3977640"/>
            <a:ext cx="2276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025128" y="4709160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personal, GitHub</a:t>
            </a:r>
            <a:endParaRPr lang="en-US" sz="105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 e intereses profesionales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309360" cy="4297680"/>
          </a:xfrm>
          <a:prstGeom prst="roundRect">
            <a:avLst>
              <a:gd name="adj" fmla="val 2553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28600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interesa la ciberseguridad porque me gusta entender cómo funcionan realmente los sistemas y cómo se comunican los servicios entre sí: ese conocimiento es la base para hacer una buena auditoría de seguridad.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84048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más me entusiasma de este proyecto es integrar las funcionalidades de escaneo y generar un reporte esencial y completo — al final, la idea es comunicar con claridad las vulnerabilidades a quien solicita el servicio.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14173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Certificaciones en seguridad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78040" y="196596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2185416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26680" y="196596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— CertiProf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78040" y="283464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3054096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26680" y="283464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— CertiProf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78040" y="370332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60920" y="3922776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26680" y="37033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CCST Cybersecurity — Cisco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78040" y="4572000"/>
            <a:ext cx="4480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60920" y="4791456"/>
            <a:ext cx="219456" cy="219456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26680" y="457200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CEHPC — en curso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254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52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SecureScan para registrar aplicaciones, ejecutar evaluaciones de seguridad automatizadas en ambientes controlados y generar reportes de vulnerabilidades priorizados por riesgo.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231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requerimientos, modelo de datos y arquitectura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724912"/>
            <a:ext cx="461772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4688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72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4231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backend (API + JWT/RBAC) y frontend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724912"/>
            <a:ext cx="461772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794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herramientas de escaneo (Nmap / OWASP ZAP)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096512"/>
            <a:ext cx="461772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38404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72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37947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hallazgos con CVSS y OWASP Top 10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12280" y="4096512"/>
            <a:ext cx="461772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1663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reportes PDF y dashboard de seguimiento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88720" y="5468112"/>
            <a:ext cx="461772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5212080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7220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516636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pruebas funcionales, de seguridad y rendimiento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5468112"/>
            <a:ext cx="4617720" cy="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6053328"/>
            <a:ext cx="10881360" cy="384048"/>
          </a:xfrm>
          <a:prstGeom prst="roundRect">
            <a:avLst>
              <a:gd name="adj" fmla="val 19048"/>
            </a:avLst>
          </a:prstGeom>
          <a:solidFill>
            <a:srgbClr val="EAF2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77240" y="6053328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de recursos, duración y responsable de cada objetivo se encuentra en el Plan de Trabajo (Documento 1.5).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Factibilidad y gestión de riesgos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EAF2F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A FAVOR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89280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open source, sin costos de licenciamiento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788920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67004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trabajo autónomo + sesiones del taller de proyectos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566160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44728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laboratorio propio y controlado (sin depender de terceros)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343400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22452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 y documentación amplia de las herramientas elegidas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120640"/>
            <a:ext cx="146304" cy="146304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5001768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formal de la docente para desarrollo individual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B254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4630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MITIGACIÓN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331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múltiples herramientas de escaneo puede tomar más tiempo del estimado.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063240"/>
            <a:ext cx="4846320" cy="0"/>
          </a:xfrm>
          <a:prstGeom prst="line">
            <a:avLst/>
          </a:prstGeom>
          <a:noFill/>
          <a:ln w="12700">
            <a:solidFill>
              <a:srgbClr val="2E4A7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32004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5204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un alcance MVP con una sola herramienta integrada (Nmap y/o OWASP ZAP); dejar herramientas adicionales como extensión si el cronograma lo permite.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4434840"/>
            <a:ext cx="4846320" cy="0"/>
          </a:xfrm>
          <a:prstGeom prst="line">
            <a:avLst/>
          </a:prstGeom>
          <a:noFill/>
          <a:ln w="12700">
            <a:solidFill>
              <a:srgbClr val="2E4A7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5720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 un proyecto individual, la carga de trabajo se distribuye semana a semana según la Carta Gantt, priorizando el MVP antes que funcionalidades adicionales.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de trabajo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personal, con ciclos de trabajo alineados a las fases de Capstone. Ivan asume la totalidad de los roles (backend, frontend, seguridad y pruebas).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05840" y="2377440"/>
            <a:ext cx="2286000" cy="11887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377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2971800"/>
            <a:ext cx="502920" cy="0"/>
          </a:xfrm>
          <a:prstGeom prst="line">
            <a:avLst/>
          </a:prstGeom>
          <a:noFill/>
          <a:ln w="2540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94760" y="2377440"/>
            <a:ext cx="2286000" cy="118872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794760" y="2377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80760" y="2971800"/>
            <a:ext cx="502920" cy="0"/>
          </a:xfrm>
          <a:prstGeom prst="line">
            <a:avLst/>
          </a:prstGeom>
          <a:noFill/>
          <a:ln w="2540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83680" y="2377440"/>
            <a:ext cx="2286000" cy="11887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377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69680" y="2971800"/>
            <a:ext cx="502920" cy="0"/>
          </a:xfrm>
          <a:prstGeom prst="line">
            <a:avLst/>
          </a:prstGeom>
          <a:noFill/>
          <a:ln w="25400">
            <a:solidFill>
              <a:srgbClr val="13315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372600" y="2377440"/>
            <a:ext cx="2286000" cy="118872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372600" y="237744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0" y="3566160"/>
            <a:ext cx="914" cy="320040"/>
          </a:xfrm>
          <a:prstGeom prst="line">
            <a:avLst/>
          </a:prstGeom>
          <a:noFill/>
          <a:ln w="19050">
            <a:solidFill>
              <a:srgbClr val="13315C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148840" y="3886200"/>
            <a:ext cx="8366760" cy="914"/>
          </a:xfrm>
          <a:prstGeom prst="line">
            <a:avLst/>
          </a:prstGeom>
          <a:noFill/>
          <a:ln w="19050">
            <a:solidFill>
              <a:srgbClr val="13315C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2148840" y="3566160"/>
            <a:ext cx="914" cy="320040"/>
          </a:xfrm>
          <a:prstGeom prst="line">
            <a:avLst/>
          </a:prstGeom>
          <a:noFill/>
          <a:ln w="19050">
            <a:solidFill>
              <a:srgbClr val="13315C"/>
            </a:solidFill>
            <a:prstDash val="dash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280160" y="402336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Retroalimentación continua al cierre de cada ciclo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EAF2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1937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577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Versionamiento y commits regulares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43400" y="507492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EAF2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26280" y="51937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Kanban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577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de tareas por ciclo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507492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EAF2F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321040" y="51937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5577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 reproducibles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31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 y Carta Gantt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· Fase 1 (S1–S4) · Fase 2 (S5–S15) · Fase 3 (S16–S18)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112471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 y Repositorio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00B4D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874520" y="137160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diseño (arquitectura, ER, UML)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3852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00B4D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93852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1938528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Prototipo funcional inicial (backend + frontend + Docker)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505456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505456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50545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completa desplegada con Docker Compose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72384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723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307238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pruebas y manual técnico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867912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3315C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593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 (público)</a:t>
            </a:r>
            <a:endParaRPr lang="en-US" sz="1100" dirty="0"/>
          </a:p>
        </p:txBody>
      </p:sp>
      <p:sp>
        <p:nvSpPr>
          <p:cNvPr id="17" name="Text 15">
            <a:hlinkClick r:id="rId1" tooltip=""/>
          </p:cNvPr>
          <p:cNvSpPr txBox="1"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github.com/Ivancyao/Capstone-SecureScan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5806440"/>
            <a:ext cx="10881360" cy="0"/>
          </a:xfrm>
          <a:prstGeom prst="line">
            <a:avLst/>
          </a:prstGeom>
          <a:noFill/>
          <a:ln w="12700">
            <a:solidFill>
              <a:srgbClr val="2E4A7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  —  Preguntas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SecureScan — Definición de Proyecto APT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2026-09-04T01:32:39Z</dcterms:created>
  <dcterms:modified xsi:type="dcterms:W3CDTF">2026-09-04T01:32:39Z</dcterms:modified>
</cp:coreProperties>
</file>